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0" d="100"/>
          <a:sy n="80" d="100"/>
        </p:scale>
        <p:origin x="782"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DD745-6DFF-E101-387A-92F39D0190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E6D850-B9BF-DE0D-193B-B3C5E76789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1A3B19-ABC5-5F1A-3DEE-F7C1D3BEDB91}"/>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EC90F207-BB3F-1835-E57D-1E54B4161F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C4849-2EF1-4C06-9E4D-6F7EBA9DF619}"/>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3935242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19F2-7304-A918-3A42-98E023C9B8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885221-DCF3-29CA-07DD-2C8F522295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DEF5C0-91B0-3FDB-1856-4081A21E70FF}"/>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765D1AF7-615C-0892-EEFF-5ECA6BB2CB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04FFF-B2F6-EE43-E5EB-4B5082EA5A8C}"/>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145354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EB56C-729F-C40C-6E74-2F3DE71E7F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F082AB-FFA7-8E51-C86B-5899C5F541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A33280-8F25-2254-0BB6-575618122861}"/>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08919CC6-22DF-4FCE-61D3-8CA86CD16E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391916-E425-C8B6-4CDB-E644163CAD08}"/>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2779697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724F-114F-D208-2B55-4D939029CD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525F6C-7627-C153-3581-8969FED986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072D2A-19AD-D188-D2E0-792684C1AF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7640C3-BE62-64A7-966C-BD983B7174D0}"/>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6" name="Footer Placeholder 5">
            <a:extLst>
              <a:ext uri="{FF2B5EF4-FFF2-40B4-BE49-F238E27FC236}">
                <a16:creationId xmlns:a16="http://schemas.microsoft.com/office/drawing/2014/main" id="{854D5679-C74C-42A2-1429-8E8F1EF0A0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031538-929F-89FA-F8C0-6743C6245172}"/>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513808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2665-176D-60FA-BA05-0A44A55740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3B19C8-147B-A675-742A-1DDEFEC55D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4C7D4D-DBC6-C688-53E7-DD026E59D4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51EF9B-8113-9DC9-5DA3-C1A3A949B7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E5880C-926D-7799-390C-B181444EB1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E2F8A0-6FD9-CF23-0D1F-5987D6D611AD}"/>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8" name="Footer Placeholder 7">
            <a:extLst>
              <a:ext uri="{FF2B5EF4-FFF2-40B4-BE49-F238E27FC236}">
                <a16:creationId xmlns:a16="http://schemas.microsoft.com/office/drawing/2014/main" id="{7F706B4C-82EE-1BF6-70D2-5C26C160A6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05C48F-24B7-B1B6-C26F-AC834F8ED65F}"/>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231974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D71F-D884-4F46-D80E-D10F0C637A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2329F1-6888-1B6A-053D-23CA2021A0ED}"/>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4" name="Footer Placeholder 3">
            <a:extLst>
              <a:ext uri="{FF2B5EF4-FFF2-40B4-BE49-F238E27FC236}">
                <a16:creationId xmlns:a16="http://schemas.microsoft.com/office/drawing/2014/main" id="{962E0E50-0AFF-6FD3-552D-A96A7A422B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5E07C1-D933-048C-4083-97CA810D92F5}"/>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942443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07A36D-8B99-094F-E8B1-804AAA1D512B}"/>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3" name="Footer Placeholder 2">
            <a:extLst>
              <a:ext uri="{FF2B5EF4-FFF2-40B4-BE49-F238E27FC236}">
                <a16:creationId xmlns:a16="http://schemas.microsoft.com/office/drawing/2014/main" id="{FBD29B34-D6D4-9CEB-22C8-DD2CDAA014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755645-42B8-C2E3-ED99-4FBE7E734DE4}"/>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761323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6437-9E82-C521-513C-285B00ED4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B2AE0B-6FCE-26D1-6775-93904F2DB9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E985CA-981C-6288-5959-B415D6537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AE30DE-EC15-5966-2DB2-8895A5B6A30E}"/>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6" name="Footer Placeholder 5">
            <a:extLst>
              <a:ext uri="{FF2B5EF4-FFF2-40B4-BE49-F238E27FC236}">
                <a16:creationId xmlns:a16="http://schemas.microsoft.com/office/drawing/2014/main" id="{4006AE33-D478-5EE0-6D92-6D5EA0EA80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5F2EAF-C81C-2FA7-6DDD-96B9FD84D6DB}"/>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14960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027E0-09BE-951B-162B-98CF27781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C64558-6F91-437C-8EE3-AC4AC9EC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23688F-71A2-AD9A-8E9F-C8A40ECAE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AC79CA-8481-CDA4-5EA8-202F5152CB15}"/>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6" name="Footer Placeholder 5">
            <a:extLst>
              <a:ext uri="{FF2B5EF4-FFF2-40B4-BE49-F238E27FC236}">
                <a16:creationId xmlns:a16="http://schemas.microsoft.com/office/drawing/2014/main" id="{B21A5725-CB00-BAB6-4D21-B1695564EC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7603AB-B316-2821-BCD9-F8F5424EA376}"/>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3673341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D1A9-0DEF-20A1-F5A8-2C1C9E3CE7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4ECEAB-FEB2-AA03-52D8-0EF386DBE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E0D9F0-18B0-C3FC-F1DA-D852E2D3D6D3}"/>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F2BA7487-C63B-6A92-BDE0-9D621D2A01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608BAA-59FC-17D4-EAF2-F5DB58D46FD9}"/>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260856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54B071-5759-D011-FC64-8446A41A7F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FB764-A321-721F-7594-CEBF516202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AC555B-440B-12F3-2EAB-9CEA88DC3A6C}"/>
              </a:ext>
            </a:extLst>
          </p:cNvPr>
          <p:cNvSpPr>
            <a:spLocks noGrp="1"/>
          </p:cNvSpPr>
          <p:nvPr>
            <p:ph type="dt" sz="half" idx="10"/>
          </p:nvPr>
        </p:nvSpPr>
        <p:spPr/>
        <p:txBody>
          <a:body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8B26FCC8-F1A3-8235-364E-E5AB106255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3E3709-1D14-186F-7B97-27EC905123F4}"/>
              </a:ext>
            </a:extLst>
          </p:cNvPr>
          <p:cNvSpPr>
            <a:spLocks noGrp="1"/>
          </p:cNvSpPr>
          <p:nvPr>
            <p:ph type="sldNum" sz="quarter" idx="12"/>
          </p:nvPr>
        </p:nvSpPr>
        <p:spPr/>
        <p:txBody>
          <a:bodyPr/>
          <a:lstStyle/>
          <a:p>
            <a:fld id="{D40CF7FA-04A1-4BFE-95D4-0CE7A2585FBE}" type="slidenum">
              <a:rPr lang="en-IN" smtClean="0"/>
              <a:t>‹#›</a:t>
            </a:fld>
            <a:endParaRPr lang="en-IN"/>
          </a:p>
        </p:txBody>
      </p:sp>
    </p:spTree>
    <p:extLst>
      <p:ext uri="{BB962C8B-B14F-4D97-AF65-F5344CB8AC3E}">
        <p14:creationId xmlns:p14="http://schemas.microsoft.com/office/powerpoint/2010/main" val="66569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C7F1D1-9FFB-3E88-3124-00ACD52BC5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619DD8-293F-4844-44C6-4A5CBCB31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2B786-A722-EC43-C369-3F011224D1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E6B83D-84A5-4160-B0C1-EA823E170A0A}" type="datetimeFigureOut">
              <a:rPr lang="en-IN" smtClean="0"/>
              <a:t>03-04-2026</a:t>
            </a:fld>
            <a:endParaRPr lang="en-IN"/>
          </a:p>
        </p:txBody>
      </p:sp>
      <p:sp>
        <p:nvSpPr>
          <p:cNvPr id="5" name="Footer Placeholder 4">
            <a:extLst>
              <a:ext uri="{FF2B5EF4-FFF2-40B4-BE49-F238E27FC236}">
                <a16:creationId xmlns:a16="http://schemas.microsoft.com/office/drawing/2014/main" id="{D052D7FC-1515-858A-815E-EF4B0ED06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848611-FADE-203E-709E-4C7BA64F8D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0CF7FA-04A1-4BFE-95D4-0CE7A2585FBE}" type="slidenum">
              <a:rPr lang="en-IN" smtClean="0"/>
              <a:t>‹#›</a:t>
            </a:fld>
            <a:endParaRPr lang="en-IN"/>
          </a:p>
        </p:txBody>
      </p:sp>
    </p:spTree>
    <p:extLst>
      <p:ext uri="{BB962C8B-B14F-4D97-AF65-F5344CB8AC3E}">
        <p14:creationId xmlns:p14="http://schemas.microsoft.com/office/powerpoint/2010/main" val="3766816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aclweb.org/anthology/20%2020.emnlp-main.540/" TargetMode="External"/><Relationship Id="rId2" Type="http://schemas.openxmlformats.org/officeDocument/2006/relationships/hyperlink" Target="https://dl.acm.org/doi/10.1145/32692%2006.3271743" TargetMode="External"/><Relationship Id="rId1" Type="http://schemas.openxmlformats.org/officeDocument/2006/relationships/slideLayout" Target="../slideLayouts/slideLayout2.xml"/><Relationship Id="rId4" Type="http://schemas.openxmlformats.org/officeDocument/2006/relationships/hyperlink" Target="https://www.aclweb.org/anthology/Q%2015-102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freesvg.org/thank-you-decoration"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48466-CFF2-091E-2C62-21536A5EF9C8}"/>
              </a:ext>
            </a:extLst>
          </p:cNvPr>
          <p:cNvSpPr>
            <a:spLocks noGrp="1"/>
          </p:cNvSpPr>
          <p:nvPr>
            <p:ph type="ctrTitle"/>
          </p:nvPr>
        </p:nvSpPr>
        <p:spPr>
          <a:xfrm>
            <a:off x="1418253" y="783770"/>
            <a:ext cx="9296400" cy="3480319"/>
          </a:xfrm>
        </p:spPr>
        <p:txBody>
          <a:bodyPr>
            <a:normAutofit/>
          </a:bodyPr>
          <a:lstStyle/>
          <a:p>
            <a:pPr marL="144780">
              <a:lnSpc>
                <a:spcPts val="1490"/>
              </a:lnSpc>
            </a:pPr>
            <a:r>
              <a:rPr lang="en-IN" sz="18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a:t>
            </a:r>
            <a:r>
              <a:rPr lang="en-IN" sz="32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DAYANANDA SAGAR UNIVERSITY</a:t>
            </a:r>
            <a:br>
              <a:rPr lang="en-IN" sz="32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27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27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1800" b="1" kern="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a:t>
            </a: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a:t>
            </a: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br>
            <a: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a:t>
            </a: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br>
              <a:rPr lang="en-IN" sz="3600" b="1"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br>
            <a:r>
              <a:rPr lang="en-IN" sz="3600" b="1" kern="1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AI Based Plagiarism Detection System</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F8A47405-D81A-1EF0-9BE2-4C3010A9F46C}"/>
              </a:ext>
            </a:extLst>
          </p:cNvPr>
          <p:cNvSpPr>
            <a:spLocks noGrp="1"/>
          </p:cNvSpPr>
          <p:nvPr>
            <p:ph type="subTitle" idx="1"/>
          </p:nvPr>
        </p:nvSpPr>
        <p:spPr>
          <a:xfrm>
            <a:off x="7501812" y="3732246"/>
            <a:ext cx="5001208" cy="2733870"/>
          </a:xfrm>
        </p:spPr>
        <p:txBody>
          <a:bodyPr>
            <a:normAutofit/>
          </a:bodyPr>
          <a:lstStyle/>
          <a:p>
            <a:pPr algn="l"/>
            <a:r>
              <a:rPr lang="en-US" sz="2600" b="1" dirty="0">
                <a:effectLst/>
                <a:latin typeface="Times New Roman" panose="02020603050405020304" pitchFamily="18" charset="0"/>
                <a:ea typeface="Times New Roman" panose="02020603050405020304" pitchFamily="18" charset="0"/>
              </a:rPr>
              <a:t>                                                                                                                                                      </a:t>
            </a:r>
            <a:r>
              <a:rPr lang="en-US" sz="2600" dirty="0"/>
              <a:t>By:</a:t>
            </a:r>
          </a:p>
          <a:p>
            <a:pPr algn="l"/>
            <a:r>
              <a:rPr lang="en-US" sz="2000" b="1" dirty="0"/>
              <a:t>Girish babu M B (ENG24AM0176)</a:t>
            </a:r>
          </a:p>
          <a:p>
            <a:pPr algn="l"/>
            <a:r>
              <a:rPr lang="en-US" sz="2000" b="1" dirty="0"/>
              <a:t>Raviteja L (ENG24AM0075)</a:t>
            </a:r>
          </a:p>
          <a:p>
            <a:pPr algn="l"/>
            <a:r>
              <a:rPr lang="en-US" sz="2000" b="1" dirty="0"/>
              <a:t>P V S Puneeth Reddy (ENG24AM0248)</a:t>
            </a:r>
          </a:p>
          <a:p>
            <a:pPr algn="l"/>
            <a:r>
              <a:rPr lang="en-IN" sz="2000" b="1" dirty="0">
                <a:ea typeface="Calibri" panose="020F0502020204030204" pitchFamily="34" charset="0"/>
                <a:cs typeface="Calibri" panose="020F0502020204030204" pitchFamily="34" charset="0"/>
              </a:rPr>
              <a:t>M R L Arjun Reddy (ENG24AM0348)</a:t>
            </a:r>
            <a:br>
              <a:rPr lang="en-IN" sz="2200" b="1" dirty="0">
                <a:effectLst/>
                <a:latin typeface="Times New Roman" panose="02020603050405020304" pitchFamily="18" charset="0"/>
                <a:ea typeface="Times New Roman" panose="02020603050405020304" pitchFamily="18" charset="0"/>
              </a:rPr>
            </a:br>
            <a:endParaRPr lang="en-IN" sz="2200" b="1" dirty="0"/>
          </a:p>
        </p:txBody>
      </p:sp>
      <p:pic>
        <p:nvPicPr>
          <p:cNvPr id="4" name="image1.jpeg">
            <a:extLst>
              <a:ext uri="{FF2B5EF4-FFF2-40B4-BE49-F238E27FC236}">
                <a16:creationId xmlns:a16="http://schemas.microsoft.com/office/drawing/2014/main" id="{274A22AE-5749-8318-1090-73B79E6457C7}"/>
              </a:ext>
            </a:extLst>
          </p:cNvPr>
          <p:cNvPicPr>
            <a:picLocks noChangeAspect="1"/>
          </p:cNvPicPr>
          <p:nvPr/>
        </p:nvPicPr>
        <p:blipFill>
          <a:blip r:embed="rId2" cstate="print"/>
          <a:stretch>
            <a:fillRect/>
          </a:stretch>
        </p:blipFill>
        <p:spPr>
          <a:xfrm>
            <a:off x="3790476" y="1520890"/>
            <a:ext cx="3855887" cy="1237893"/>
          </a:xfrm>
          <a:prstGeom prst="rect">
            <a:avLst/>
          </a:prstGeom>
        </p:spPr>
      </p:pic>
    </p:spTree>
    <p:extLst>
      <p:ext uri="{BB962C8B-B14F-4D97-AF65-F5344CB8AC3E}">
        <p14:creationId xmlns:p14="http://schemas.microsoft.com/office/powerpoint/2010/main" val="379382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F69F7-5899-E56A-9E8E-A9E8764C5722}"/>
              </a:ext>
            </a:extLst>
          </p:cNvPr>
          <p:cNvSpPr>
            <a:spLocks noGrp="1"/>
          </p:cNvSpPr>
          <p:nvPr>
            <p:ph type="title"/>
          </p:nvPr>
        </p:nvSpPr>
        <p:spPr>
          <a:xfrm>
            <a:off x="838200" y="365125"/>
            <a:ext cx="4305300" cy="5330825"/>
          </a:xfrm>
        </p:spPr>
        <p:txBody>
          <a:bodyPr>
            <a:normAutofit/>
          </a:bodyPr>
          <a:lstStyle/>
          <a:p>
            <a:r>
              <a:rPr lang="en-US" sz="4000" b="1" dirty="0">
                <a:latin typeface="Times New Roman" panose="02020603050405020304" pitchFamily="18" charset="0"/>
                <a:cs typeface="Times New Roman" panose="02020603050405020304" pitchFamily="18" charset="0"/>
              </a:rPr>
              <a:t>CONTENTS:</a:t>
            </a:r>
            <a:br>
              <a:rPr lang="en-US" sz="3200" b="1" dirty="0">
                <a:latin typeface="Times New Roman" panose="02020603050405020304" pitchFamily="18"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1. INTRODUCTION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2. LITERATURE REVIEW</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3. METHODOLOGY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4. RESULT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5. CONCLUSION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6. REFERENCE</a:t>
            </a:r>
            <a:br>
              <a:rPr lang="en-US"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882964-4904-FF6E-77A8-2AC20107E7F9}"/>
              </a:ext>
            </a:extLst>
          </p:cNvPr>
          <p:cNvPicPr>
            <a:picLocks noChangeAspect="1"/>
          </p:cNvPicPr>
          <p:nvPr/>
        </p:nvPicPr>
        <p:blipFill>
          <a:blip r:embed="rId2"/>
          <a:stretch>
            <a:fillRect/>
          </a:stretch>
        </p:blipFill>
        <p:spPr>
          <a:xfrm>
            <a:off x="5314950" y="708026"/>
            <a:ext cx="6591300" cy="5054600"/>
          </a:xfrm>
          <a:prstGeom prst="rect">
            <a:avLst/>
          </a:prstGeom>
        </p:spPr>
      </p:pic>
    </p:spTree>
    <p:extLst>
      <p:ext uri="{BB962C8B-B14F-4D97-AF65-F5344CB8AC3E}">
        <p14:creationId xmlns:p14="http://schemas.microsoft.com/office/powerpoint/2010/main" val="2018904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C0150-F783-58FF-BF15-7CF3BFB43E0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6CBDEF-7AE6-273F-A268-D2C0FC5DDFEF}"/>
              </a:ext>
            </a:extLst>
          </p:cNvPr>
          <p:cNvSpPr>
            <a:spLocks noGrp="1"/>
          </p:cNvSpPr>
          <p:nvPr>
            <p:ph idx="1"/>
          </p:nvPr>
        </p:nvSpPr>
        <p:spPr>
          <a:xfrm>
            <a:off x="838200" y="1825625"/>
            <a:ext cx="5257800" cy="4351338"/>
          </a:xfrm>
        </p:spPr>
        <p:txBody>
          <a:bodyPr>
            <a:normAutofit/>
          </a:bodyPr>
          <a:lstStyle/>
          <a:p>
            <a:r>
              <a:rPr lang="en-US" sz="1800" dirty="0"/>
              <a:t>Plagiarism is a major issue in academics and </a:t>
            </a:r>
            <a:r>
              <a:rPr lang="en-IN" sz="1800" dirty="0"/>
              <a:t>digital content creation.</a:t>
            </a:r>
          </a:p>
          <a:p>
            <a:r>
              <a:rPr lang="en-US" sz="1800" dirty="0"/>
              <a:t>Traditional detection methods are often limited to exact text matching.</a:t>
            </a:r>
          </a:p>
          <a:p>
            <a:r>
              <a:rPr lang="en-US" sz="1800" dirty="0"/>
              <a:t>An AI-Based Plagiarism Detection System uses </a:t>
            </a:r>
            <a:r>
              <a:rPr lang="en-US" sz="1800" b="1" dirty="0"/>
              <a:t>Artificial Intelligence</a:t>
            </a:r>
            <a:r>
              <a:rPr lang="en-US" sz="1800" dirty="0"/>
              <a:t> and </a:t>
            </a:r>
            <a:r>
              <a:rPr lang="en-US" sz="1800" b="1" dirty="0"/>
              <a:t>Natural Language Processing</a:t>
            </a:r>
            <a:r>
              <a:rPr lang="en-US" sz="1800" dirty="0"/>
              <a:t>.</a:t>
            </a:r>
          </a:p>
          <a:p>
            <a:r>
              <a:rPr lang="en-US" sz="1800" dirty="0"/>
              <a:t>It detects both direct copying and paraphrased content.</a:t>
            </a:r>
          </a:p>
          <a:p>
            <a:r>
              <a:rPr lang="en-US" sz="1800" dirty="0"/>
              <a:t>The system ensures accuracy, efficiency, and originality.</a:t>
            </a:r>
            <a:endParaRPr lang="en-IN" sz="1800" dirty="0"/>
          </a:p>
          <a:p>
            <a:r>
              <a:rPr lang="en-US" sz="1800" dirty="0"/>
              <a:t>It promotes ethical practices and maintains content credibility.</a:t>
            </a:r>
          </a:p>
        </p:txBody>
      </p:sp>
      <p:pic>
        <p:nvPicPr>
          <p:cNvPr id="7" name="Picture 6">
            <a:extLst>
              <a:ext uri="{FF2B5EF4-FFF2-40B4-BE49-F238E27FC236}">
                <a16:creationId xmlns:a16="http://schemas.microsoft.com/office/drawing/2014/main" id="{F0EDD920-96BA-765D-487E-739D711D7317}"/>
              </a:ext>
            </a:extLst>
          </p:cNvPr>
          <p:cNvPicPr>
            <a:picLocks noChangeAspect="1"/>
          </p:cNvPicPr>
          <p:nvPr/>
        </p:nvPicPr>
        <p:blipFill>
          <a:blip r:embed="rId2"/>
          <a:stretch>
            <a:fillRect/>
          </a:stretch>
        </p:blipFill>
        <p:spPr>
          <a:xfrm>
            <a:off x="6096000" y="533401"/>
            <a:ext cx="6056015" cy="5959474"/>
          </a:xfrm>
          <a:prstGeom prst="rect">
            <a:avLst/>
          </a:prstGeom>
        </p:spPr>
      </p:pic>
    </p:spTree>
    <p:extLst>
      <p:ext uri="{BB962C8B-B14F-4D97-AF65-F5344CB8AC3E}">
        <p14:creationId xmlns:p14="http://schemas.microsoft.com/office/powerpoint/2010/main" val="1546816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7A1B4-2B6D-DC1B-6369-E1F9A50B693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AD094A-A0E1-E01C-A134-FAF284077974}"/>
              </a:ext>
            </a:extLst>
          </p:cNvPr>
          <p:cNvSpPr>
            <a:spLocks noGrp="1"/>
          </p:cNvSpPr>
          <p:nvPr>
            <p:ph idx="1"/>
          </p:nvPr>
        </p:nvSpPr>
        <p:spPr/>
        <p:txBody>
          <a:bodyPr>
            <a:normAutofit/>
          </a:bodyPr>
          <a:lstStyle/>
          <a:p>
            <a:r>
              <a:rPr lang="en-US" sz="2000" dirty="0"/>
              <a:t>Research in AI-generated content detection has gained traction due to the proliferation of AI language models capable of generating human-like text. Early studies focused on rule-based approaches and statistical analysis to identify anomalies indicative of AI-generated content [1].</a:t>
            </a:r>
          </a:p>
          <a:p>
            <a:pPr marL="0" indent="0">
              <a:buNone/>
            </a:pPr>
            <a:endParaRPr lang="en-US" sz="2000" dirty="0"/>
          </a:p>
          <a:p>
            <a:r>
              <a:rPr lang="en-US" sz="2000" dirty="0"/>
              <a:t>With the advent of deep learning techniques, particularly transformer-based models like GPT-2 and GPT-3, researchers have explored the use of neural networks for AI content detection. Studies have demonstrated the effectiveness of language model-based approaches in distinguishing between human and AI-generated text [2].</a:t>
            </a:r>
          </a:p>
          <a:p>
            <a:pPr marL="0" indent="0">
              <a:buNone/>
            </a:pPr>
            <a:endParaRPr lang="en-US" sz="2000" dirty="0"/>
          </a:p>
          <a:p>
            <a:r>
              <a:rPr lang="en-US" sz="2000" dirty="0"/>
              <a:t>Paraphrase detection is a critical task in natural language applications in processing, plagiarism with detection, question answering, and text summarization. Early research in paraphrase detection primarily focused on lexical and syntactic similarity measures, such as cosine similarity and edit distance metrics [3].</a:t>
            </a:r>
          </a:p>
        </p:txBody>
      </p:sp>
    </p:spTree>
    <p:extLst>
      <p:ext uri="{BB962C8B-B14F-4D97-AF65-F5344CB8AC3E}">
        <p14:creationId xmlns:p14="http://schemas.microsoft.com/office/powerpoint/2010/main" val="1732643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5508-32AF-96DA-8675-181AE18D545C}"/>
              </a:ext>
            </a:extLst>
          </p:cNvPr>
          <p:cNvSpPr>
            <a:spLocks noGrp="1"/>
          </p:cNvSpPr>
          <p:nvPr>
            <p:ph type="title"/>
          </p:nvPr>
        </p:nvSpPr>
        <p:spPr>
          <a:xfrm>
            <a:off x="838200" y="-76199"/>
            <a:ext cx="10515600" cy="1266046"/>
          </a:xfrm>
        </p:spPr>
        <p:txBody>
          <a:bodyPr>
            <a:normAutofit/>
          </a:bodyPr>
          <a:lstStyle/>
          <a:p>
            <a:r>
              <a:rPr lang="en-US" sz="4000" b="1" dirty="0">
                <a:latin typeface="Times New Roman" panose="02020603050405020304" pitchFamily="18" charset="0"/>
                <a:cs typeface="Times New Roman" panose="02020603050405020304" pitchFamily="18" charset="0"/>
              </a:rPr>
              <a:t>METHODOLOGY: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BCE440-45FB-E088-2E83-4E46040C8AC2}"/>
              </a:ext>
            </a:extLst>
          </p:cNvPr>
          <p:cNvSpPr>
            <a:spLocks noGrp="1"/>
          </p:cNvSpPr>
          <p:nvPr>
            <p:ph idx="1"/>
          </p:nvPr>
        </p:nvSpPr>
        <p:spPr>
          <a:xfrm>
            <a:off x="104775" y="1096298"/>
            <a:ext cx="6324599" cy="4665404"/>
          </a:xfrm>
        </p:spPr>
        <p:txBody>
          <a:bodyPr>
            <a:normAutofit/>
          </a:bodyPr>
          <a:lstStyle/>
          <a:p>
            <a:pPr marL="0" indent="0">
              <a:buNone/>
            </a:pPr>
            <a:r>
              <a:rPr lang="en-US" sz="1800" dirty="0"/>
              <a:t>The proposed methodology uses multiple machine learning classifiers to detect AI-generated and paraphrased content. Text data is preprocessed and transformed with NLP techniques. We extract features using embeddings and similarity measures. Models are trained and evaluated with accuracy metrics. The system compares outputs to identify patterns and improve detection performance</a:t>
            </a:r>
            <a:r>
              <a:rPr lang="en-US" sz="2000" dirty="0"/>
              <a:t>.</a:t>
            </a:r>
          </a:p>
          <a:p>
            <a:pPr marL="0" indent="0">
              <a:buNone/>
            </a:pPr>
            <a:r>
              <a:rPr lang="en-IN" sz="1800" b="1" kern="100" dirty="0">
                <a:solidFill>
                  <a:srgbClr val="000000"/>
                </a:solidFill>
                <a:effectLst/>
                <a:latin typeface="Times New Roman" panose="02020603050405020304" pitchFamily="18" charset="0"/>
                <a:ea typeface="Sylfaen" panose="010A0502050306030303" pitchFamily="18" charset="0"/>
                <a:cs typeface="Times New Roman" panose="02020603050405020304" pitchFamily="18" charset="0"/>
              </a:rPr>
              <a:t>Dataset Description :</a:t>
            </a:r>
          </a:p>
          <a:p>
            <a:pPr marL="0" indent="0">
              <a:buNone/>
            </a:pPr>
            <a:r>
              <a:rPr lang="en-US" sz="1600" dirty="0"/>
              <a:t>The dataset employed for conducting this analysis is sourced through the internet and AI language models.</a:t>
            </a:r>
          </a:p>
          <a:p>
            <a:pPr marL="0" indent="0">
              <a:buNone/>
            </a:pPr>
            <a:r>
              <a:rPr lang="en-US" sz="1600" dirty="0"/>
              <a:t>The dataset includes 75 words . The target of our prediction model is to identify whether the provided text was generated by humans, AI, or has been paraphrased.</a:t>
            </a:r>
          </a:p>
          <a:p>
            <a:pPr marL="0" indent="0">
              <a:buNone/>
            </a:pPr>
            <a:r>
              <a:rPr lang="en-US" sz="1600" dirty="0"/>
              <a:t>The dataset Includes 75 words with a number of different variables.</a:t>
            </a:r>
          </a:p>
          <a:p>
            <a:pPr marL="0" indent="0">
              <a:buNone/>
            </a:pPr>
            <a:r>
              <a:rPr lang="en-IN" sz="1600" kern="100" dirty="0">
                <a:solidFill>
                  <a:srgbClr val="000000"/>
                </a:solidFill>
                <a:latin typeface="Times New Roman" panose="02020603050405020304" pitchFamily="18" charset="0"/>
                <a:ea typeface="Sylfaen" panose="010A0502050306030303" pitchFamily="18" charset="0"/>
                <a:cs typeface="Times New Roman" panose="02020603050405020304" pitchFamily="18" charset="0"/>
              </a:rPr>
              <a:t>“OUTCOME” is the feature that we are going to predict, that percentage  of word or parts generated by AI/GPT </a:t>
            </a:r>
            <a:endParaRPr lang="en-US" sz="1600" dirty="0"/>
          </a:p>
        </p:txBody>
      </p:sp>
      <p:pic>
        <p:nvPicPr>
          <p:cNvPr id="6" name="Picture 5">
            <a:extLst>
              <a:ext uri="{FF2B5EF4-FFF2-40B4-BE49-F238E27FC236}">
                <a16:creationId xmlns:a16="http://schemas.microsoft.com/office/drawing/2014/main" id="{175EA6C1-9C8A-36E0-8D79-8C416C1878EE}"/>
              </a:ext>
            </a:extLst>
          </p:cNvPr>
          <p:cNvPicPr>
            <a:picLocks noChangeAspect="1"/>
          </p:cNvPicPr>
          <p:nvPr/>
        </p:nvPicPr>
        <p:blipFill>
          <a:blip r:embed="rId2"/>
          <a:stretch>
            <a:fillRect/>
          </a:stretch>
        </p:blipFill>
        <p:spPr>
          <a:xfrm>
            <a:off x="6429374" y="556824"/>
            <a:ext cx="5762625" cy="5204878"/>
          </a:xfrm>
          <a:prstGeom prst="rect">
            <a:avLst/>
          </a:prstGeom>
        </p:spPr>
      </p:pic>
    </p:spTree>
    <p:extLst>
      <p:ext uri="{BB962C8B-B14F-4D97-AF65-F5344CB8AC3E}">
        <p14:creationId xmlns:p14="http://schemas.microsoft.com/office/powerpoint/2010/main" val="2053303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A96B-1F78-C2B4-596B-B309FFEA1100}"/>
              </a:ext>
            </a:extLst>
          </p:cNvPr>
          <p:cNvSpPr>
            <a:spLocks noGrp="1"/>
          </p:cNvSpPr>
          <p:nvPr>
            <p:ph type="title"/>
          </p:nvPr>
        </p:nvSpPr>
        <p:spPr>
          <a:xfrm>
            <a:off x="838200" y="905069"/>
            <a:ext cx="10515600" cy="5505062"/>
          </a:xfrm>
        </p:spPr>
        <p:txBody>
          <a:bodyPr/>
          <a:lstStyle/>
          <a:p>
            <a:r>
              <a:rPr lang="en-US" dirty="0"/>
              <a:t> </a:t>
            </a:r>
            <a:endParaRPr lang="en-IN" dirty="0"/>
          </a:p>
        </p:txBody>
      </p:sp>
      <p:pic>
        <p:nvPicPr>
          <p:cNvPr id="43" name="Picture 42">
            <a:extLst>
              <a:ext uri="{FF2B5EF4-FFF2-40B4-BE49-F238E27FC236}">
                <a16:creationId xmlns:a16="http://schemas.microsoft.com/office/drawing/2014/main" id="{08D28668-D505-4755-84D0-B6163118D385}"/>
              </a:ext>
            </a:extLst>
          </p:cNvPr>
          <p:cNvPicPr>
            <a:picLocks noChangeAspect="1"/>
          </p:cNvPicPr>
          <p:nvPr/>
        </p:nvPicPr>
        <p:blipFill>
          <a:blip r:embed="rId2"/>
          <a:stretch>
            <a:fillRect/>
          </a:stretch>
        </p:blipFill>
        <p:spPr>
          <a:xfrm>
            <a:off x="2667000" y="209550"/>
            <a:ext cx="6858000" cy="6505575"/>
          </a:xfrm>
          <a:prstGeom prst="rect">
            <a:avLst/>
          </a:prstGeom>
        </p:spPr>
      </p:pic>
    </p:spTree>
    <p:extLst>
      <p:ext uri="{BB962C8B-B14F-4D97-AF65-F5344CB8AC3E}">
        <p14:creationId xmlns:p14="http://schemas.microsoft.com/office/powerpoint/2010/main" val="3889290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F3746-C70C-A8B9-06FE-ACEE64E1E23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RESULT:</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 </a:t>
            </a:r>
            <a:r>
              <a:rPr lang="en-IN" sz="2400" dirty="0">
                <a:solidFill>
                  <a:srgbClr val="000000"/>
                </a:solidFill>
                <a:effectLst/>
                <a:latin typeface="Times New Roman" panose="02020603050405020304" pitchFamily="18" charset="0"/>
                <a:ea typeface="Sylfaen" panose="010A0502050306030303" pitchFamily="18" charset="0"/>
                <a:cs typeface="Times New Roman" panose="02020603050405020304" pitchFamily="18" charset="0"/>
              </a:rPr>
              <a:t>Histogram: </a:t>
            </a:r>
            <a:endParaRPr lang="en-IN" sz="2400"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50CCDEA1-C77F-208D-47A0-57F7066FA6EA}"/>
              </a:ext>
            </a:extLst>
          </p:cNvPr>
          <p:cNvPicPr>
            <a:picLocks noGrp="1" noChangeAspect="1"/>
          </p:cNvPicPr>
          <p:nvPr>
            <p:ph idx="1"/>
          </p:nvPr>
        </p:nvPicPr>
        <p:blipFill>
          <a:blip r:embed="rId2"/>
          <a:stretch>
            <a:fillRect/>
          </a:stretch>
        </p:blipFill>
        <p:spPr>
          <a:xfrm>
            <a:off x="1352550" y="1944688"/>
            <a:ext cx="8896350" cy="4548187"/>
          </a:xfrm>
          <a:prstGeom prst="rect">
            <a:avLst/>
          </a:prstGeom>
        </p:spPr>
      </p:pic>
    </p:spTree>
    <p:extLst>
      <p:ext uri="{BB962C8B-B14F-4D97-AF65-F5344CB8AC3E}">
        <p14:creationId xmlns:p14="http://schemas.microsoft.com/office/powerpoint/2010/main" val="615494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B5D96-5AAF-6C6D-95A1-14D88838ECEC}"/>
              </a:ext>
            </a:extLst>
          </p:cNvPr>
          <p:cNvSpPr>
            <a:spLocks noGrp="1"/>
          </p:cNvSpPr>
          <p:nvPr>
            <p:ph type="title"/>
          </p:nvPr>
        </p:nvSpPr>
        <p:spPr>
          <a:xfrm>
            <a:off x="474307" y="951723"/>
            <a:ext cx="5077408" cy="5906277"/>
          </a:xfrm>
        </p:spPr>
        <p:txBody>
          <a:bodyPr/>
          <a:lstStyle/>
          <a:p>
            <a:r>
              <a:rPr lang="en-US" sz="1600" kern="100" dirty="0">
                <a:solidFill>
                  <a:srgbClr val="000000"/>
                </a:solidFill>
                <a:latin typeface="Times New Roman" panose="02020603050405020304" pitchFamily="18" charset="0"/>
                <a:ea typeface="Sylfaen" panose="010A0502050306030303" pitchFamily="18" charset="0"/>
                <a:cs typeface="Times New Roman" panose="02020603050405020304" pitchFamily="18" charset="0"/>
              </a:rPr>
              <a:t>As can be seen, no single textual characteristic can completely determine whether it is human-written content or AI-written content. While some characteristics display strong similarities, other characteristics depend on writing styles and formats. From the analysis of plot diagrams, we can understand the distribution of text characteristics and labels within different ranges, thus emphasizing the need for preprocessing.</a:t>
            </a:r>
            <a:br>
              <a:rPr lang="en-US" sz="1600" kern="100" dirty="0">
                <a:solidFill>
                  <a:srgbClr val="000000"/>
                </a:solidFill>
                <a:latin typeface="Times New Roman" panose="02020603050405020304" pitchFamily="18" charset="0"/>
                <a:ea typeface="Sylfaen" panose="010A0502050306030303" pitchFamily="18" charset="0"/>
                <a:cs typeface="Times New Roman" panose="02020603050405020304" pitchFamily="18" charset="0"/>
              </a:rPr>
            </a:br>
            <a:br>
              <a:rPr lang="en-US" sz="1600" kern="100" dirty="0">
                <a:solidFill>
                  <a:srgbClr val="000000"/>
                </a:solidFill>
                <a:latin typeface="Times New Roman" panose="02020603050405020304" pitchFamily="18" charset="0"/>
                <a:ea typeface="Sylfaen" panose="010A0502050306030303" pitchFamily="18" charset="0"/>
                <a:cs typeface="Times New Roman" panose="02020603050405020304" pitchFamily="18" charset="0"/>
              </a:rPr>
            </a:br>
            <a:r>
              <a:rPr lang="en-US" sz="1600" kern="100" dirty="0">
                <a:solidFill>
                  <a:srgbClr val="000000"/>
                </a:solidFill>
                <a:latin typeface="Times New Roman" panose="02020603050405020304" pitchFamily="18" charset="0"/>
                <a:ea typeface="Sylfaen" panose="010A0502050306030303" pitchFamily="18" charset="0"/>
                <a:cs typeface="Times New Roman" panose="02020603050405020304" pitchFamily="18" charset="0"/>
              </a:rPr>
              <a:t>Discretized patterns in the data suggest the existence of categorical differences between human-written text, AI-written text, and paraphrasing content. It should be carefully considered before utilizing machine learning algorithms. The labels contain three types of outcomes: 0 corresponds to human-written content, 1 corresponds to AI-written content, and 2 represents paraphrasing.</a:t>
            </a:r>
            <a:br>
              <a:rPr lang="en-IN" sz="1600" kern="100" dirty="0">
                <a:solidFill>
                  <a:srgbClr val="000000"/>
                </a:solidFill>
                <a:effectLst/>
                <a:latin typeface="Times New Roman" panose="02020603050405020304" pitchFamily="18" charset="0"/>
                <a:ea typeface="Sylfaen" panose="010A0502050306030303" pitchFamily="18" charset="0"/>
                <a:cs typeface="Times New Roman" panose="02020603050405020304" pitchFamily="18" charset="0"/>
              </a:rPr>
            </a:br>
            <a:br>
              <a:rPr lang="en-IN" sz="1800" kern="100" dirty="0">
                <a:solidFill>
                  <a:srgbClr val="000000"/>
                </a:solidFill>
                <a:effectLst/>
                <a:latin typeface="Sylfaen" panose="010A0502050306030303" pitchFamily="18" charset="0"/>
                <a:ea typeface="Sylfaen" panose="010A0502050306030303" pitchFamily="18" charset="0"/>
                <a:cs typeface="Sylfaen" panose="010A0502050306030303" pitchFamily="18" charset="0"/>
              </a:rPr>
            </a:br>
            <a:br>
              <a:rPr lang="en-IN" sz="1800" kern="100" dirty="0">
                <a:solidFill>
                  <a:srgbClr val="000000"/>
                </a:solidFill>
                <a:effectLst/>
                <a:latin typeface="Sylfaen" panose="010A0502050306030303" pitchFamily="18" charset="0"/>
                <a:ea typeface="Sylfaen" panose="010A0502050306030303" pitchFamily="18" charset="0"/>
                <a:cs typeface="Sylfaen" panose="010A0502050306030303" pitchFamily="18" charset="0"/>
              </a:rPr>
            </a:br>
            <a:endParaRPr lang="en-IN" dirty="0"/>
          </a:p>
        </p:txBody>
      </p:sp>
      <p:pic>
        <p:nvPicPr>
          <p:cNvPr id="4" name="Picture 3">
            <a:extLst>
              <a:ext uri="{FF2B5EF4-FFF2-40B4-BE49-F238E27FC236}">
                <a16:creationId xmlns:a16="http://schemas.microsoft.com/office/drawing/2014/main" id="{D7E8DD55-730B-2476-9EA1-2471564AE0B4}"/>
              </a:ext>
            </a:extLst>
          </p:cNvPr>
          <p:cNvPicPr>
            <a:picLocks noChangeAspect="1"/>
          </p:cNvPicPr>
          <p:nvPr/>
        </p:nvPicPr>
        <p:blipFill>
          <a:blip r:embed="rId2"/>
          <a:stretch>
            <a:fillRect/>
          </a:stretch>
        </p:blipFill>
        <p:spPr>
          <a:xfrm>
            <a:off x="5751739" y="571500"/>
            <a:ext cx="5687785" cy="5257800"/>
          </a:xfrm>
          <a:prstGeom prst="rect">
            <a:avLst/>
          </a:prstGeom>
        </p:spPr>
      </p:pic>
    </p:spTree>
    <p:extLst>
      <p:ext uri="{BB962C8B-B14F-4D97-AF65-F5344CB8AC3E}">
        <p14:creationId xmlns:p14="http://schemas.microsoft.com/office/powerpoint/2010/main" val="1749048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B626-A222-0AFA-D69D-759172DE3EA8}"/>
              </a:ext>
            </a:extLst>
          </p:cNvPr>
          <p:cNvSpPr>
            <a:spLocks noGrp="1"/>
          </p:cNvSpPr>
          <p:nvPr>
            <p:ph type="title"/>
          </p:nvPr>
        </p:nvSpPr>
        <p:spPr>
          <a:xfrm>
            <a:off x="670249" y="85207"/>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747450-DF86-3B5F-7ED1-3F0CB57A5D83}"/>
              </a:ext>
            </a:extLst>
          </p:cNvPr>
          <p:cNvSpPr>
            <a:spLocks noGrp="1"/>
          </p:cNvSpPr>
          <p:nvPr>
            <p:ph idx="1"/>
          </p:nvPr>
        </p:nvSpPr>
        <p:spPr>
          <a:xfrm>
            <a:off x="394996" y="1333046"/>
            <a:ext cx="11402007" cy="5439747"/>
          </a:xfrm>
        </p:spPr>
        <p:txBody>
          <a:bodyPr>
            <a:normAutofit fontScale="92500"/>
          </a:bodyPr>
          <a:lstStyle/>
          <a:p>
            <a:pPr marL="342900" indent="-342900">
              <a:buFont typeface="+mj-lt"/>
              <a:buAutoNum type="arabicPeriod"/>
            </a:pPr>
            <a:r>
              <a:rPr lang="en-US" sz="1400" b="1" dirty="0"/>
              <a:t>Accuracy and Reliability:</a:t>
            </a:r>
          </a:p>
          <a:p>
            <a:pPr marL="0" indent="0">
              <a:buNone/>
            </a:pPr>
            <a:r>
              <a:rPr lang="en-US" sz="1400" dirty="0"/>
              <a:t>         The efficiency of the system will depend on its accuracy and reliability. This requires the models used to be trained on a variety of text databases to correctly           identify human-generated text, AI-generated text, and paraphrased text.</a:t>
            </a:r>
          </a:p>
          <a:p>
            <a:pPr marL="0" indent="0">
              <a:buNone/>
            </a:pPr>
            <a:r>
              <a:rPr lang="en-US" sz="1400" b="1" dirty="0"/>
              <a:t>2.      Feature Selection and Importance:</a:t>
            </a:r>
          </a:p>
          <a:p>
            <a:pPr marL="0" indent="0">
              <a:buNone/>
            </a:pPr>
            <a:r>
              <a:rPr lang="en-US" sz="1400" dirty="0"/>
              <a:t>         Feature selection is important in choosing the right textual features for use in the model. Some of the textual features include word embeddings, syntactic patterns, and semantic similarity. Feature importance analysis allows one to recognize certain features that aid in detecting AI-generated and plagiarized text.</a:t>
            </a:r>
          </a:p>
          <a:p>
            <a:pPr marL="0" indent="0">
              <a:buNone/>
            </a:pPr>
            <a:r>
              <a:rPr lang="en-US" sz="1400" b="1" dirty="0"/>
              <a:t>3.      Model Evaluation:</a:t>
            </a:r>
          </a:p>
          <a:p>
            <a:pPr marL="0" indent="0">
              <a:buNone/>
            </a:pPr>
            <a:r>
              <a:rPr lang="en-US" sz="1400" dirty="0"/>
              <a:t>         It is important to evaluate the performance of the proposed system based on metrics like accuracy, recall, precision.</a:t>
            </a:r>
          </a:p>
          <a:p>
            <a:pPr marL="0" indent="0">
              <a:buNone/>
            </a:pPr>
            <a:r>
              <a:rPr lang="en-US" sz="1400" b="1" dirty="0"/>
              <a:t>4.     Data Privacy and Security:</a:t>
            </a:r>
          </a:p>
          <a:p>
            <a:pPr marL="0" indent="0">
              <a:buNone/>
            </a:pPr>
            <a:r>
              <a:rPr lang="en-US" sz="1400" dirty="0"/>
              <a:t>        Since the textual data can include confidential information, data privacy and security are essential concerns in order to protect the confidentiality of information.</a:t>
            </a:r>
          </a:p>
          <a:p>
            <a:pPr marL="0" indent="0">
              <a:buNone/>
            </a:pPr>
            <a:r>
              <a:rPr lang="en-US" sz="1400" b="1" dirty="0"/>
              <a:t>5.     User-Friendly Interface:</a:t>
            </a:r>
          </a:p>
          <a:p>
            <a:pPr marL="0" indent="0">
              <a:buNone/>
            </a:pPr>
            <a:r>
              <a:rPr lang="en-US" sz="1400" dirty="0"/>
              <a:t>        The system should have a user-friendly interface which enables easy submission of text by users and clear interpretation of results along with percentages.</a:t>
            </a:r>
          </a:p>
          <a:p>
            <a:pPr marL="0" indent="0">
              <a:buNone/>
            </a:pPr>
            <a:r>
              <a:rPr lang="en-US" sz="1400" b="1" dirty="0"/>
              <a:t>6.     Continuous Update:</a:t>
            </a:r>
          </a:p>
          <a:p>
            <a:pPr marL="0" indent="0">
              <a:buNone/>
            </a:pPr>
            <a:r>
              <a:rPr lang="en-US" sz="1400" dirty="0"/>
              <a:t>         The AI models are evolving with time, and therefore, the system should be continuously upgraded to ensure accurate results.</a:t>
            </a:r>
          </a:p>
          <a:p>
            <a:pPr marL="0" indent="0">
              <a:buNone/>
            </a:pPr>
            <a:r>
              <a:rPr lang="en-US" sz="1400" b="1" dirty="0"/>
              <a:t>7.     Scalability and Integration:</a:t>
            </a:r>
          </a:p>
          <a:p>
            <a:pPr marL="0" indent="0">
              <a:buNone/>
            </a:pPr>
            <a:r>
              <a:rPr lang="en-US" sz="1400" dirty="0"/>
              <a:t>         For greater usage, scalability is crucial along with ease of integration with other academic tools, platforms, and applications.</a:t>
            </a:r>
          </a:p>
          <a:p>
            <a:pPr marL="0" indent="0">
              <a:buNone/>
            </a:pPr>
            <a:r>
              <a:rPr lang="en-US" sz="1400" b="1" dirty="0"/>
              <a:t>8.     Ethical Aspects:</a:t>
            </a:r>
          </a:p>
          <a:p>
            <a:pPr marL="0" indent="0">
              <a:buNone/>
            </a:pPr>
            <a:r>
              <a:rPr lang="en-US" sz="1400" dirty="0"/>
              <a:t>         There are some ethical considerations regarding unbiasedness, fairness, and absence of any kind of biases. The system needs to be evaluated periodically to              ensure unbiased results.</a:t>
            </a:r>
          </a:p>
        </p:txBody>
      </p:sp>
    </p:spTree>
    <p:extLst>
      <p:ext uri="{BB962C8B-B14F-4D97-AF65-F5344CB8AC3E}">
        <p14:creationId xmlns:p14="http://schemas.microsoft.com/office/powerpoint/2010/main" val="389715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D202-A84F-BFE7-457E-BF3CBF6477C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552A1A-C0CC-B1A4-308A-33CCD9A01758}"/>
              </a:ext>
            </a:extLst>
          </p:cNvPr>
          <p:cNvSpPr>
            <a:spLocks noGrp="1"/>
          </p:cNvSpPr>
          <p:nvPr>
            <p:ph idx="1"/>
          </p:nvPr>
        </p:nvSpPr>
        <p:spPr>
          <a:xfrm>
            <a:off x="558281" y="1974915"/>
            <a:ext cx="10515600" cy="4183289"/>
          </a:xfrm>
        </p:spPr>
        <p:txBody>
          <a:bodyPr/>
          <a:lstStyle/>
          <a:p>
            <a:pPr marL="287655" marR="27940" indent="-285750" algn="just">
              <a:lnSpc>
                <a:spcPct val="111000"/>
              </a:lnSpc>
              <a:spcAft>
                <a:spcPts val="45"/>
              </a:spcAft>
              <a:buFont typeface="Wingdings" panose="05000000000000000000" pitchFamily="2" charset="2"/>
              <a:buChar char="q"/>
            </a:pPr>
            <a:r>
              <a:rPr lang="en-US" sz="2000" dirty="0"/>
              <a:t>[1] Baly, F., Mishra, A., &amp; Ekstrand, M. D. (2018). Detecting neural text generation: A benchmark for open domain dialogue systems. In Proceedings of the 27th ACM International Conference on Information and Knowledge Management (pp. 287-296). Link](</a:t>
            </a:r>
            <a:r>
              <a:rPr lang="en-US" sz="2000" dirty="0">
                <a:hlinkClick r:id="rId2"/>
              </a:rPr>
              <a:t>https://dl.acm.org/doi/10.1145/32692 06.3271743</a:t>
            </a:r>
            <a:r>
              <a:rPr lang="en-US" sz="2000" dirty="0"/>
              <a:t>)</a:t>
            </a:r>
          </a:p>
          <a:p>
            <a:pPr marL="287655" marR="27940" indent="-285750" algn="just">
              <a:lnSpc>
                <a:spcPct val="111000"/>
              </a:lnSpc>
              <a:spcAft>
                <a:spcPts val="45"/>
              </a:spcAft>
              <a:buFont typeface="Wingdings" panose="05000000000000000000" pitchFamily="2" charset="2"/>
              <a:buChar char="q"/>
            </a:pPr>
            <a:r>
              <a:rPr lang="en-US" sz="2000" dirty="0"/>
              <a:t>[2] Miller, J., Dodge, J., &amp; Slavin, R. (2020). Detecting and assessing AI-generated text: Toward a novel toolkit for summarization and paraphrase detection. In Proceedings of the 2020 Conference on Empirical Methods in </a:t>
            </a:r>
            <a:r>
              <a:rPr lang="en-IN" sz="2000" dirty="0"/>
              <a:t>Natural Language Processing (EMNLP) (pp. 6650-6660).</a:t>
            </a:r>
            <a:r>
              <a:rPr lang="en-US" sz="2000" dirty="0"/>
              <a:t> [Link](</a:t>
            </a:r>
            <a:r>
              <a:rPr lang="en-US" sz="2000" dirty="0">
                <a:hlinkClick r:id="rId3"/>
              </a:rPr>
              <a:t>https://www.aclweb.org/anthology/20 20.emnlp-main.540/</a:t>
            </a:r>
            <a:r>
              <a:rPr lang="en-US" sz="2000" dirty="0"/>
              <a:t>)</a:t>
            </a:r>
          </a:p>
          <a:p>
            <a:pPr marL="287655" marR="27940" indent="-285750" algn="just">
              <a:lnSpc>
                <a:spcPct val="111000"/>
              </a:lnSpc>
              <a:spcAft>
                <a:spcPts val="45"/>
              </a:spcAft>
              <a:buFont typeface="Wingdings" panose="05000000000000000000" pitchFamily="2" charset="2"/>
              <a:buChar char="q"/>
            </a:pPr>
            <a:r>
              <a:rPr lang="en-IN" sz="2000" dirty="0"/>
              <a:t> </a:t>
            </a:r>
            <a:r>
              <a:rPr lang="en-US" sz="2000" dirty="0"/>
              <a:t>[4] Pavlick, E., Omar, A., &amp; Bos, J. (2015). Paraphrase identification through string similarity features. Transactions of the Association for Computational Linguistics,3,</a:t>
            </a:r>
            <a:r>
              <a:rPr lang="en-IN" sz="2000" dirty="0"/>
              <a:t> 345-358. [Link](</a:t>
            </a:r>
            <a:r>
              <a:rPr lang="en-IN" sz="2000" dirty="0">
                <a:hlinkClick r:id="rId4"/>
              </a:rPr>
              <a:t>https://www.aclweb.org/anthology/Q 15-1025/</a:t>
            </a:r>
            <a:r>
              <a:rPr lang="en-IN" sz="2000" dirty="0"/>
              <a:t>)</a:t>
            </a:r>
          </a:p>
          <a:p>
            <a:pPr marL="1905" marR="27940" indent="0" algn="just">
              <a:lnSpc>
                <a:spcPct val="111000"/>
              </a:lnSpc>
              <a:spcAft>
                <a:spcPts val="45"/>
              </a:spcAft>
              <a:buNone/>
            </a:pPr>
            <a:endParaRPr lang="en-US" sz="1800" dirty="0"/>
          </a:p>
          <a:p>
            <a:pPr marL="287655" marR="27940" indent="-285750" algn="just">
              <a:lnSpc>
                <a:spcPct val="111000"/>
              </a:lnSpc>
              <a:spcAft>
                <a:spcPts val="45"/>
              </a:spcAft>
              <a:buFont typeface="Wingdings" panose="05000000000000000000" pitchFamily="2" charset="2"/>
              <a:buChar char="q"/>
            </a:pPr>
            <a:endParaRPr lang="en-US" sz="1800" dirty="0"/>
          </a:p>
        </p:txBody>
      </p:sp>
    </p:spTree>
    <p:extLst>
      <p:ext uri="{BB962C8B-B14F-4D97-AF65-F5344CB8AC3E}">
        <p14:creationId xmlns:p14="http://schemas.microsoft.com/office/powerpoint/2010/main" val="131760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3A25C5-9F76-F2CE-B22F-E165EAA1C37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3060387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1632</TotalTime>
  <Words>1062</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Sylfaen</vt:lpstr>
      <vt:lpstr>Times New Roman</vt:lpstr>
      <vt:lpstr>Wingdings</vt:lpstr>
      <vt:lpstr>Office Theme</vt:lpstr>
      <vt:lpstr>     DAYANANDA SAGAR UNIVERSITY                  AI Based Plagiarism Detection System </vt:lpstr>
      <vt:lpstr>CONTENTS:  1. INTRODUCTION 2. LITERATURE REVIEW 3. METHODOLOGY 4. RESULT  5. CONCLUSION 6. REFERENCE </vt:lpstr>
      <vt:lpstr>INTRODUCTION:</vt:lpstr>
      <vt:lpstr>LITERATURE REVIEW:</vt:lpstr>
      <vt:lpstr>METHODOLOGY:</vt:lpstr>
      <vt:lpstr> </vt:lpstr>
      <vt:lpstr>RESULT:  Histogram: </vt:lpstr>
      <vt:lpstr>As can be seen, no single textual characteristic can completely determine whether it is human-written content or AI-written content. While some characteristics display strong similarities, other characteristics depend on writing styles and formats. From the analysis of plot diagrams, we can understand the distribution of text characteristics and labels within different ranges, thus emphasizing the need for preprocessing.  Discretized patterns in the data suggest the existence of categorical differences between human-written text, AI-written text, and paraphrasing content. It should be carefully considered before utilizing machine learning algorithms. The labels contain three types of outcomes: 0 corresponds to human-written content, 1 corresponds to AI-written content, and 2 represents paraphrasing.   </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DAYANANDA SAGAR UNIVERSITY                Diabetes Prediction Using Machine Learning</dc:title>
  <dc:creator>G. GAYATHRI</dc:creator>
  <cp:lastModifiedBy>Girish babu M B</cp:lastModifiedBy>
  <cp:revision>4</cp:revision>
  <dcterms:created xsi:type="dcterms:W3CDTF">2023-12-29T16:47:00Z</dcterms:created>
  <dcterms:modified xsi:type="dcterms:W3CDTF">2026-04-04T08:18:51Z</dcterms:modified>
</cp:coreProperties>
</file>